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</ns0:sldIdLst>
  <ns0:sldSz cx="12192000" cy="6858000" type="screen4x3"/>
  <ns0:notesSz cx="6858000" cy="9144000"/>
  <ns0:embeddedFontLst>
    <ns0:embeddedFont>
      <ns0:font typeface="JetBrains Mono"/>
      <ns0:bold ns1:id="rIdFont19"/>
      <ns0:regular ns1:id="rIdFont20"/>
    </ns0:embeddedFont>
    <ns0:embeddedFont>
      <ns0:font typeface="Noto Sans KR"/>
      <ns0:bold ns1:id="rIdFont21"/>
      <ns0:regular ns1:id="rIdFont22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Font19" Type="http://schemas.openxmlformats.org/officeDocument/2006/relationships/font" Target="fonts/c828554c-50c7-4900-af09-459bfc449f94.fntdata" /><ns0:Relationship Id="rIdFont20" Type="http://schemas.openxmlformats.org/officeDocument/2006/relationships/font" Target="fonts/5f1801dd-d2a3-4cad-8796-b074e2e31eaa.fntdata" /><ns0:Relationship Id="rIdFont21" Type="http://schemas.openxmlformats.org/officeDocument/2006/relationships/font" Target="fonts/75d3e271-ca8d-4503-a365-9d8f32faa2e7.fntdata" /><ns0:Relationship Id="rIdFont22" Type="http://schemas.openxmlformats.org/officeDocument/2006/relationships/font" Target="fonts/1e89330c-3e8a-4ec1-84d6-f320956cd457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28998" y="4240410"/>
            <a:ext cx="9525" cy="1524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426940"/>
            <a:ext cx="11430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Noto Sans KR"/>
              </a:rPr>
              <a:t>과제 평가 시연 프레젠테이션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779365"/>
            <a:ext cx="10626328" cy="5942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680"/>
              </a:lnSpc>
            </a:pPr>
            <a:r>
              <a:rPr b="1" sz="3900" i="0" u="none">
                <a:solidFill>
                  <a:srgbClr val="F8FAFC"/>
                </a:solidFill>
                <a:latin typeface="Noto Sans KR"/>
              </a:rPr>
              <a:t>나만의 프롬프트 관리자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564135"/>
            <a:ext cx="8334375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94A3B8"/>
                </a:solidFill>
                <a:latin typeface="Noto Sans KR"/>
              </a:rPr>
              <a:t>Python CLI 기반 템플릿 라이브러리 및 Git 워크플로우 실무 적용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4202310"/>
            <a:ext cx="140984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Noto Sans KR"/>
              </a:rPr>
              <a:t>발표자: </a:t>
            </a:r>
            <a:r>
              <a:rPr b="1" sz="1350" i="0" u="none">
                <a:solidFill>
                  <a:srgbClr val="CBD5E1"/>
                </a:solidFill>
                <a:latin typeface="Noto Sans KR"/>
              </a:rPr>
              <a:t>윤태성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81423" y="4226123"/>
            <a:ext cx="3772606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JetBrains Mono"/>
              </a:rPr>
              <a:t>github.com/yts-cmd/prompt-manager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2830710"/>
            <a:ext cx="5219700" cy="1019175"/>
          </a:xfrm>
          <a:prstGeom prst="roundRect">
            <a:avLst>
              <a:gd name="adj" fmla="val 1121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4040385"/>
            <a:ext cx="5219700" cy="1019175"/>
          </a:xfrm>
          <a:prstGeom prst="roundRect">
            <a:avLst>
              <a:gd name="adj" fmla="val 11214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2230635"/>
            <a:ext cx="5219700" cy="3429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230635"/>
            <a:ext cx="5219700" cy="3429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Noto Sans KR"/>
              </a:rPr>
              <a:t>기획 배경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19150"/>
            <a:ext cx="115062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Noto Sans KR"/>
              </a:rPr>
              <a:t>검증된 AI 질문 자산의 체계적 보관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59310"/>
            <a:ext cx="6250781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Noto Sans KR"/>
              </a:rPr>
              <a:t>기존 업무 방식의 한계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92685"/>
            <a:ext cx="59531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Noto Sans KR"/>
              </a:rPr>
              <a:t>메모장 분산 보관으로 인한 재사용성 저하.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68985"/>
            <a:ext cx="6250781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66534"/>
                </a:solidFill>
                <a:latin typeface="Noto Sans KR"/>
              </a:rPr>
              <a:t>해결 방안 및 지향점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602360"/>
            <a:ext cx="59531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15803D"/>
                </a:solidFill>
                <a:latin typeface="Noto Sans KR"/>
              </a:rPr>
              <a:t>카테고리 분류와 실시간 검색 CLI 도구 구축.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3125985"/>
            <a:ext cx="3183433" cy="1676400"/>
          </a:xfrm>
          <a:prstGeom prst="roundRect">
            <a:avLst>
              <a:gd name="adj" fmla="val 681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04283" y="3125985"/>
            <a:ext cx="3183433" cy="1676400"/>
          </a:xfrm>
          <a:prstGeom prst="roundRect">
            <a:avLst>
              <a:gd name="adj" fmla="val 681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322766" y="3125985"/>
            <a:ext cx="3183433" cy="1676400"/>
          </a:xfrm>
          <a:prstGeom prst="roundRect">
            <a:avLst>
              <a:gd name="adj" fmla="val 681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7833" y="3849885"/>
            <a:ext cx="177849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6316" y="3849885"/>
            <a:ext cx="177849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8900" y="3449835"/>
            <a:ext cx="237083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7383" y="3449835"/>
            <a:ext cx="237083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95867" y="3449835"/>
            <a:ext cx="237083" cy="30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Noto Sans KR"/>
              </a:rPr>
              <a:t>시스템 메커니즘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819150"/>
            <a:ext cx="115062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Noto Sans KR"/>
              </a:rPr>
              <a:t>인메모리 데이터 파이프라인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8426" y="3935610"/>
            <a:ext cx="3578181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Noto Sans KR"/>
              </a:rPr>
              <a:t>사용자 입력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3620" y="4268985"/>
            <a:ext cx="340779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4748B"/>
                </a:solidFill>
                <a:latin typeface="Noto Sans KR"/>
              </a:rPr>
              <a:t>제목, 본문, 카테고리 정보 수집.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6909" y="3935610"/>
            <a:ext cx="3578181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Noto Sans KR"/>
              </a:rPr>
              <a:t>딕셔너리 구조화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92104" y="4268985"/>
            <a:ext cx="340779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4748B"/>
                </a:solidFill>
                <a:latin typeface="Noto Sans KR"/>
              </a:rPr>
              <a:t>리스트 기반 인메모리 자산 적재.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5392" y="3935610"/>
            <a:ext cx="3578181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Noto Sans KR"/>
              </a:rPr>
              <a:t>7대 기능 핸들링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0587" y="4268985"/>
            <a:ext cx="340779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4748B"/>
                </a:solidFill>
                <a:latin typeface="Noto Sans KR"/>
              </a:rPr>
              <a:t>필터링 및 원문 추출 제공.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2959298"/>
            <a:ext cx="3403550" cy="2047875"/>
          </a:xfrm>
          <a:prstGeom prst="roundRect">
            <a:avLst>
              <a:gd name="adj" fmla="val 651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94150" y="2959298"/>
            <a:ext cx="3403550" cy="2047875"/>
          </a:xfrm>
          <a:prstGeom prst="roundRect">
            <a:avLst>
              <a:gd name="adj" fmla="val 651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02500" y="2959298"/>
            <a:ext cx="3403550" cy="2047875"/>
          </a:xfrm>
          <a:prstGeom prst="roundRect">
            <a:avLst>
              <a:gd name="adj" fmla="val 651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Noto Sans KR"/>
              </a:rPr>
              <a:t>버전 관리 성과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19150"/>
            <a:ext cx="115062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Noto Sans KR"/>
              </a:rPr>
              <a:t>Git 필수 평가 요건 충족 현황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6106" y="3340298"/>
            <a:ext cx="3682937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b="1" sz="4800" i="0" u="none">
                <a:solidFill>
                  <a:srgbClr val="0284C7"/>
                </a:solidFill>
                <a:latin typeface="JetBrains Mono"/>
              </a:rPr>
              <a:t>10+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4032" y="4064198"/>
            <a:ext cx="3867084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Noto Sans KR"/>
              </a:rPr>
              <a:t>단위 커밋 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6106" y="4397573"/>
            <a:ext cx="368293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4748B"/>
                </a:solidFill>
                <a:latin typeface="Noto Sans KR"/>
              </a:rPr>
              <a:t>기능별 커밋 컨벤션 준수.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4456" y="3340298"/>
            <a:ext cx="3682937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b="1" sz="4800" i="0" u="none">
                <a:solidFill>
                  <a:srgbClr val="0F172A"/>
                </a:solidFill>
                <a:latin typeface="JetBrains Mono"/>
              </a:rPr>
              <a:t>8종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2383" y="4064198"/>
            <a:ext cx="3867084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Noto Sans KR"/>
              </a:rPr>
              <a:t>핵심 명령어 실행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4456" y="4397573"/>
            <a:ext cx="368293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4748B"/>
                </a:solidFill>
                <a:latin typeface="Noto Sans KR"/>
              </a:rPr>
              <a:t>init부터 clone까지 완수.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62806" y="3340298"/>
            <a:ext cx="3682937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b="1" sz="4800" i="0" u="none">
                <a:solidFill>
                  <a:srgbClr val="16A34A"/>
                </a:solidFill>
                <a:latin typeface="JetBrains Mono"/>
              </a:rP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70733" y="4064198"/>
            <a:ext cx="3867084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Noto Sans KR"/>
              </a:rPr>
              <a:t>원격 저장소 동기화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62806" y="4397573"/>
            <a:ext cx="368293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4748B"/>
                </a:solidFill>
                <a:latin typeface="Noto Sans KR"/>
              </a:rPr>
              <a:t>GitHub 양방향 동기화 완료.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3116460"/>
            <a:ext cx="5238750" cy="1657350"/>
          </a:xfrm>
          <a:prstGeom prst="roundRect">
            <a:avLst>
              <a:gd name="adj" fmla="val 689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67450" y="3116460"/>
            <a:ext cx="5238750" cy="1657350"/>
          </a:xfrm>
          <a:prstGeom prst="roundRect">
            <a:avLst>
              <a:gd name="adj" fmla="val 6896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90600" y="3516510"/>
            <a:ext cx="95250" cy="9525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72250" y="3516510"/>
            <a:ext cx="95250" cy="9525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Noto Sans KR"/>
              </a:rPr>
              <a:t>브랜치 워크플로우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19150"/>
            <a:ext cx="115062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Noto Sans KR"/>
              </a:rPr>
              <a:t>격리 개발 및 안전한 병합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3859410"/>
            <a:ext cx="578643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Noto Sans KR"/>
              </a:rPr>
              <a:t>목록 조회 로직의 독립 개발.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" y="4240410"/>
            <a:ext cx="578643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Noto Sans KR"/>
              </a:rPr>
              <a:t>메인 브랜치 영향 차단.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72250" y="3859410"/>
            <a:ext cx="56197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369A1"/>
                </a:solidFill>
                <a:latin typeface="Noto Sans KR"/>
              </a:rPr>
              <a:t>단위 테스트 검증 후 통합.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72250" y="4240410"/>
            <a:ext cx="56197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369A1"/>
                </a:solidFill>
                <a:latin typeface="Noto Sans KR"/>
              </a:rPr>
              <a:t>무결점 커밋 히스토리 보존.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0150" y="3421260"/>
            <a:ext cx="2918919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Noto Sans KR"/>
              </a:rPr>
              <a:t>feature/list 브랜치 분기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1800" y="3421260"/>
            <a:ext cx="3239662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369A1"/>
                </a:solidFill>
                <a:latin typeface="Noto Sans KR"/>
              </a:rPr>
              <a:t>main 브랜치 병합 (Merge)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3054548"/>
            <a:ext cx="3454449" cy="1743075"/>
          </a:xfrm>
          <a:prstGeom prst="roundRect">
            <a:avLst>
              <a:gd name="adj" fmla="val 655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849" y="3206948"/>
            <a:ext cx="3454449" cy="1438275"/>
          </a:xfrm>
          <a:prstGeom prst="roundRect">
            <a:avLst>
              <a:gd name="adj" fmla="val 794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51899" y="3054548"/>
            <a:ext cx="3454449" cy="1743075"/>
          </a:xfrm>
          <a:prstGeom prst="roundRect">
            <a:avLst>
              <a:gd name="adj" fmla="val 655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Noto Sans KR"/>
              </a:rPr>
              <a:t>소프트웨어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19150"/>
            <a:ext cx="115062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Noto Sans KR"/>
              </a:rPr>
              <a:t>7대 핵심 메뉴 구성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21248"/>
            <a:ext cx="393389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Noto Sans KR"/>
              </a:rPr>
              <a:t>등록 및 조회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92723"/>
            <a:ext cx="374656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Noto Sans KR"/>
              </a:rPr>
              <a:t>메뉴 1: 신규 프롬프트 추가.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97523"/>
            <a:ext cx="374656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Noto Sans KR"/>
              </a:rPr>
              <a:t>메뉴 2: 전체 목록 조회.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02323"/>
            <a:ext cx="374656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Noto Sans KR"/>
              </a:rPr>
              <a:t>메뉴 3: 카테고리별 분류.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7449" y="3473648"/>
            <a:ext cx="393389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Noto Sans KR"/>
              </a:rPr>
              <a:t>검색 및 원문 추출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7449" y="3845123"/>
            <a:ext cx="374656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Noto Sans KR"/>
              </a:rPr>
              <a:t>메뉴 4: 키워드 검색 필터.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449" y="4149923"/>
            <a:ext cx="374656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Noto Sans KR"/>
              </a:rPr>
              <a:t>메뉴 5: 전체 본문 상세 보기.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0499" y="3321248"/>
            <a:ext cx="391150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Noto Sans KR"/>
              </a:rPr>
              <a:t>개인화 및 제어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0499" y="3692723"/>
            <a:ext cx="374656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Noto Sans KR"/>
              </a:rPr>
              <a:t>메뉴 6: 즐겨찾기 토글.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0499" y="3997523"/>
            <a:ext cx="374656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Noto Sans KR"/>
              </a:rPr>
              <a:t>메뉴 7: 중요 항목 모아보기.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0499" y="4302323"/>
            <a:ext cx="374656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Noto Sans KR"/>
              </a:rPr>
              <a:t>메뉴 0: 프로그램 안전 종료.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3054548"/>
            <a:ext cx="5968305" cy="1743075"/>
          </a:xfrm>
          <a:prstGeom prst="roundRect">
            <a:avLst>
              <a:gd name="adj" fmla="val 6557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997005" y="2983110"/>
            <a:ext cx="4509194" cy="866775"/>
          </a:xfrm>
          <a:prstGeom prst="roundRect">
            <a:avLst>
              <a:gd name="adj" fmla="val 1318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997005" y="4002285"/>
            <a:ext cx="4509194" cy="866775"/>
          </a:xfrm>
          <a:prstGeom prst="roundRect">
            <a:avLst>
              <a:gd name="adj" fmla="val 1318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Noto Sans KR"/>
              </a:rPr>
              <a:t>시연 절차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19150"/>
            <a:ext cx="115062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Noto Sans KR"/>
              </a:rPr>
              <a:t>프롬프트 신규 등록 및 목록 확인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83148"/>
            <a:ext cx="688888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8BDF8"/>
                </a:solidFill>
                <a:latin typeface="JetBrains Mono"/>
              </a:rPr>
              <a:t>$ python main.py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78423"/>
            <a:ext cx="688888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E2E8F0"/>
                </a:solidFill>
                <a:latin typeface="JetBrains Mono"/>
              </a:rPr>
              <a:t>선택: 1 (프롬프트 추가)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16548"/>
            <a:ext cx="688888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94A3B8"/>
                </a:solidFill>
                <a:latin typeface="JetBrains Mono"/>
              </a:rPr>
              <a:t>제목: 유튜브 쇼츠 대본 작성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054673"/>
            <a:ext cx="688888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94A3B8"/>
                </a:solidFill>
                <a:latin typeface="JetBrains Mono"/>
              </a:rPr>
              <a:t>카테고리: 3 (영상 생성)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88048"/>
            <a:ext cx="688888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ADE80"/>
                </a:solidFill>
                <a:latin typeface="JetBrains Mono"/>
              </a:rPr>
              <a:t>[성공] 프롬프트가 성공적으로 추가되었습니다.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87505" y="3173610"/>
            <a:ext cx="500449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Noto Sans KR"/>
              </a:rPr>
              <a:t>동적 인덱스 부여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87505" y="3459360"/>
            <a:ext cx="500449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Noto Sans KR"/>
              </a:rPr>
              <a:t>배열 자동 확장 및 인덱싱.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87505" y="4192785"/>
            <a:ext cx="500449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Noto Sans KR"/>
              </a:rPr>
              <a:t>요약 뷰 제공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87505" y="4478535"/>
            <a:ext cx="500449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Noto Sans KR"/>
              </a:rPr>
              <a:t>제목과 태그 중심 요약 출력.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537894" y="3183135"/>
            <a:ext cx="5968305" cy="1485900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2983110"/>
            <a:ext cx="4509194" cy="866775"/>
          </a:xfrm>
          <a:prstGeom prst="roundRect">
            <a:avLst>
              <a:gd name="adj" fmla="val 1318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4002285"/>
            <a:ext cx="4509194" cy="866775"/>
          </a:xfrm>
          <a:prstGeom prst="roundRect">
            <a:avLst>
              <a:gd name="adj" fmla="val 13186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Noto Sans KR"/>
              </a:rPr>
              <a:t>시연 절차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19150"/>
            <a:ext cx="115062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Noto Sans KR"/>
              </a:rPr>
              <a:t>키워드 검색 및 지시문 원문 추출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6494" y="3411735"/>
            <a:ext cx="642550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8BDF8"/>
                </a:solidFill>
                <a:latin typeface="JetBrains Mono"/>
              </a:rPr>
              <a:t>선택: 5 (상세 보기) -&gt; 1번 입력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6494" y="3726060"/>
            <a:ext cx="642550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E2E8F0"/>
                </a:solidFill>
                <a:latin typeface="JetBrains Mono"/>
              </a:rPr>
              <a:t>[제목] 블로그 글 작성 도우미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6494" y="3964185"/>
            <a:ext cx="642550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FBBF24"/>
                </a:solidFill>
                <a:latin typeface="JetBrains Mono"/>
              </a:rPr>
              <a:t>[상태] 즐겨찾기 등록 (★)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6494" y="4259460"/>
            <a:ext cx="642550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94A3B8"/>
                </a:solidFill>
                <a:latin typeface="JetBrains Mono"/>
              </a:rPr>
              <a:t>"주제와 대상을 고려해 3단 구조 포스팅을 작성해줘"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3173610"/>
            <a:ext cx="541825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Noto Sans KR"/>
              </a:rPr>
              <a:t>부분 일치 검색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3459360"/>
            <a:ext cx="516024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Noto Sans KR"/>
              </a:rPr>
              <a:t>제목 및 내용 문자열 탐색.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4192785"/>
            <a:ext cx="541825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Noto Sans KR"/>
              </a:rPr>
              <a:t>AI 즉시 복사 연계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4478535"/>
            <a:ext cx="516024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369A1"/>
                </a:solidFill>
                <a:latin typeface="Noto Sans KR"/>
              </a:rPr>
              <a:t>지시문 원문 클립보드 활용.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3135510"/>
            <a:ext cx="5238750" cy="1619250"/>
          </a:xfrm>
          <a:prstGeom prst="roundRect">
            <a:avLst>
              <a:gd name="adj" fmla="val 705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67450" y="3135510"/>
            <a:ext cx="5238750" cy="1619250"/>
          </a:xfrm>
          <a:prstGeom prst="roundRect">
            <a:avLst>
              <a:gd name="adj" fmla="val 705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3468885"/>
            <a:ext cx="177849" cy="228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0" y="3468885"/>
            <a:ext cx="177849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Noto Sans KR"/>
              </a:rPr>
              <a:t>협업 및 배포 환경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19150"/>
            <a:ext cx="115062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Noto Sans KR"/>
              </a:rPr>
              <a:t>프로젝트 문서화 및 빌드 격리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3878460"/>
            <a:ext cx="578643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Noto Sans KR"/>
              </a:rPr>
              <a:t>설치 가이드 및 실행 절차 명시.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" y="4221360"/>
            <a:ext cx="578643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Noto Sans KR"/>
              </a:rPr>
              <a:t>7대 기능 명세 완벽 기술.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72250" y="3878460"/>
            <a:ext cx="56197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Noto Sans KR"/>
              </a:rPr>
              <a:t>바이트코드 캐시 제외 처리.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72250" y="4221360"/>
            <a:ext cx="56197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Noto Sans KR"/>
              </a:rPr>
              <a:t>가상환경 및 설정 파일 격리.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2749" y="3440310"/>
            <a:ext cx="3208994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Noto Sans KR"/>
              </a:rPr>
              <a:t>README.md 표준 문서화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64399" y="3440310"/>
            <a:ext cx="3132422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Noto Sans KR"/>
              </a:rPr>
              <a:t>.gitignore 클린 환경 유지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3235523"/>
            <a:ext cx="3454449" cy="1457325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849" y="3235523"/>
            <a:ext cx="3454449" cy="1457325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51899" y="3235523"/>
            <a:ext cx="3454449" cy="1457325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Noto Sans KR"/>
              </a:rPr>
              <a:t>미래 발전 방향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19150"/>
            <a:ext cx="115062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Noto Sans KR"/>
              </a:rPr>
              <a:t>프롬프트 시스템 고도화 로드맵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40323"/>
            <a:ext cx="3092499" cy="847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Noto Sans KR"/>
              </a:rPr>
              <a:t>STEP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97449" y="3540323"/>
            <a:ext cx="3092499" cy="847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Noto Sans KR"/>
              </a:rPr>
              <a:t>STEP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80499" y="3540323"/>
            <a:ext cx="3092499" cy="847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Noto Sans KR"/>
              </a:rPr>
              <a:t>STEP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26073"/>
            <a:ext cx="393389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Noto Sans KR"/>
              </a:rPr>
              <a:t>다중 행 템플릿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59448"/>
            <a:ext cx="374656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Noto Sans KR"/>
              </a:rPr>
              <a:t>장문 템플릿 파일 임포트 지원.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7449" y="3826073"/>
            <a:ext cx="393389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Noto Sans KR"/>
              </a:rPr>
              <a:t>영구 저장소 연동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449" y="4159448"/>
            <a:ext cx="374656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Noto Sans KR"/>
              </a:rPr>
              <a:t>JSON 및 SQLite 영구 보관.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0499" y="3826073"/>
            <a:ext cx="391150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Noto Sans KR"/>
              </a:rPr>
              <a:t>LLM API 직접 연결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0499" y="4159448"/>
            <a:ext cx="374656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Noto Sans KR"/>
              </a:rPr>
              <a:t>프롬프트 선택 즉시 답변 수신.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27016" y="4095750"/>
            <a:ext cx="3737818" cy="4191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5616" y="4210050"/>
            <a:ext cx="148232" cy="19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269092" y="2343150"/>
            <a:ext cx="165366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38BDF8"/>
                </a:solidFill>
                <a:latin typeface="Noto Sans KR"/>
              </a:rPr>
              <a:t>질의응답 및 총평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95812" y="2695575"/>
            <a:ext cx="3000375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8FAFC"/>
                </a:solidFill>
                <a:latin typeface="Noto Sans KR"/>
              </a:rPr>
              <a:t>감사합니다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68259" y="3495675"/>
            <a:ext cx="4855331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Noto Sans KR"/>
              </a:rPr>
              <a:t>나만의 프롬프트 관리자 과제 시연을 마칩니다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0888" y="4214812"/>
            <a:ext cx="3772606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CBD5E1"/>
                </a:solidFill>
                <a:latin typeface="JetBrains Mono"/>
              </a:rPr>
              <a:t>github.com/yts-cmd/prompt-manager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981075"/>
            <a:ext cx="857250" cy="47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213464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00000"/>
                </a:solidFill>
                <a:latin typeface="Noto Sans KR"/>
              </a:rPr>
              <a:t>Image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6875" y="1038225"/>
            <a:ext cx="6401841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Noto Sans KR"/>
              </a:rPr>
              <a:t>https://satechi.com/cdn/shop/articles/cubedock_lifestyle_2.webp?v=1778195924&amp;width=1600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6875" y="1228725"/>
            <a:ext cx="1726034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Noto Sans K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Noto Sans KR"/>
              </a:rPr>
              <a:t>satechi.com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